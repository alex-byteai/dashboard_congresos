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12F44"/>
          </a:solidFill>
          <a:ln>
            <a:solidFill>
              <a:srgbClr val="1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914400"/>
            <a:ext cx="2651760" cy="2651760"/>
          </a:xfrm>
          <a:prstGeom prst="ellipse">
            <a:avLst/>
          </a:prstGeom>
          <a:solidFill>
            <a:srgbClr val="19535E"/>
          </a:solidFill>
          <a:ln>
            <a:solidFill>
              <a:srgbClr val="195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1463040"/>
            <a:ext cx="1554480" cy="155448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56648" y="1938528"/>
            <a:ext cx="603504" cy="603504"/>
          </a:xfrm>
          <a:prstGeom prst="ellipse">
            <a:avLst/>
          </a:prstGeom>
          <a:solidFill>
            <a:srgbClr val="0B1423"/>
          </a:solidFill>
          <a:ln>
            <a:solidFill>
              <a:srgbClr val="0B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686800" y="1691640"/>
            <a:ext cx="2606040" cy="260604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915400" y="3977639"/>
            <a:ext cx="2423160" cy="914401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74980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6D3BE"/>
                </a:solidFill>
                <a:latin typeface="Aptos"/>
              </a:rPr>
              <a:t>SISTEMA DE INFORMACIÓN ACADÉMICA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685800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Dashboard
de Congresos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6035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8EFF6"/>
                </a:solidFill>
                <a:latin typeface="Aptos"/>
              </a:rPr>
              <a:t>Cómo funciona, qué herramientas lo construyen y hacia dónde puede crecer.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83480"/>
            <a:ext cx="2057400" cy="54864"/>
          </a:xfrm>
          <a:prstGeom prst="rect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493A6"/>
                </a:solidFill>
                <a:latin typeface="Aptos"/>
              </a:rPr>
              <a:t>Presentación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87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01  / 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Una sola vista para decidir mejor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El sistema convierte información académica dispersa en una herramienta de consulta rápida.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383280" cy="333756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068"/>
                </a:solidFill>
                <a:latin typeface="Aptos"/>
              </a:rPr>
              <a:t>ANTES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090672"/>
            <a:ext cx="91440" cy="91440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FF6"/>
                </a:solidFill>
                <a:latin typeface="Aptos"/>
              </a:rPr>
              <a:t>Fuentes separadas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657600"/>
            <a:ext cx="91440" cy="91440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FF6"/>
                </a:solidFill>
                <a:latin typeface="Aptos"/>
              </a:rPr>
              <a:t>Búsqueda manual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224528"/>
            <a:ext cx="91440" cy="91440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5137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FF6"/>
                </a:solidFill>
                <a:latin typeface="Aptos"/>
              </a:rPr>
              <a:t>Fechas límite difíciles de priorizar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791456"/>
            <a:ext cx="91440" cy="91440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71830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FF6"/>
                </a:solidFill>
                <a:latin typeface="Aptos"/>
              </a:rPr>
              <a:t>Poca visibilidad comparativa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3886200"/>
            <a:ext cx="960120" cy="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74920" y="3730752"/>
            <a:ext cx="310896" cy="310896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2240280"/>
            <a:ext cx="5897880" cy="3337560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560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AHORA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3090672"/>
            <a:ext cx="91440" cy="9144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017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Congresos y revistas centralizados</a:t>
            </a:r>
          </a:p>
        </p:txBody>
      </p:sp>
      <p:sp>
        <p:nvSpPr>
          <p:cNvPr id="23" name="Oval 22"/>
          <p:cNvSpPr/>
          <p:nvPr/>
        </p:nvSpPr>
        <p:spPr>
          <a:xfrm>
            <a:off x="5897880" y="3657600"/>
            <a:ext cx="91440" cy="9144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5844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Filtros por búsqueda, país y taxonomía</a:t>
            </a:r>
          </a:p>
        </p:txBody>
      </p:sp>
      <p:sp>
        <p:nvSpPr>
          <p:cNvPr id="25" name="Oval 24"/>
          <p:cNvSpPr/>
          <p:nvPr/>
        </p:nvSpPr>
        <p:spPr>
          <a:xfrm>
            <a:off x="5897880" y="4224528"/>
            <a:ext cx="91440" cy="9144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15137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Estados de deadlines visibles</a:t>
            </a:r>
          </a:p>
        </p:txBody>
      </p:sp>
      <p:sp>
        <p:nvSpPr>
          <p:cNvPr id="27" name="Oval 26"/>
          <p:cNvSpPr/>
          <p:nvPr/>
        </p:nvSpPr>
        <p:spPr>
          <a:xfrm>
            <a:off x="5897880" y="4791456"/>
            <a:ext cx="91440" cy="9144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7183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Datos listos para actualizar y publicar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02  /  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Dos módulos, una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El usuario parte de un selector central y entra al módulo que necesita.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011680"/>
            <a:ext cx="3154680" cy="960120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258568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6D3BE"/>
                </a:solidFill>
                <a:latin typeface="Aptos"/>
              </a:rPr>
              <a:t>SELECTOR DE MÓDULOS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71800" y="3017520"/>
            <a:ext cx="3108960" cy="86868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017520"/>
            <a:ext cx="3108960" cy="86868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94760"/>
            <a:ext cx="4114800" cy="1627632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4187952"/>
            <a:ext cx="475488" cy="475488"/>
          </a:xfrm>
          <a:prstGeom prst="ellipse">
            <a:avLst/>
          </a:prstGeom>
          <a:solidFill>
            <a:srgbClr val="5293FF"/>
          </a:solidFill>
          <a:ln>
            <a:solidFill>
              <a:srgbClr val="52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22452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423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0416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CONGRESOS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407408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Oportunidades, fechas límite, países, modalidades y publicación.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3794760"/>
            <a:ext cx="4114800" cy="1627632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4187952"/>
            <a:ext cx="475488" cy="475488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22452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423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0416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REVISTAS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4407408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Consulta de revistas, APC, disciplinas y posibles malas prácticas.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03  /  MÓDULO CONGRESOS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Encontrar la oportunidad correcta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La información se puede explorar por filtros, tarjetas, listado y línea de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03120"/>
            <a:ext cx="196596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03120"/>
            <a:ext cx="73152" cy="1024128"/>
          </a:xfrm>
          <a:prstGeom prst="rect">
            <a:avLst/>
          </a:prstGeom>
          <a:solidFill>
            <a:srgbClr val="5293FF"/>
          </a:solidFill>
          <a:ln>
            <a:solidFill>
              <a:srgbClr val="52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493A6"/>
                </a:solidFill>
                <a:latin typeface="Aptos"/>
              </a:rPr>
              <a:t>CONGRESOS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1,248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03120"/>
            <a:ext cx="196596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103120"/>
            <a:ext cx="73152" cy="1024128"/>
          </a:xfrm>
          <a:prstGeom prst="rect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28600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493A6"/>
                </a:solidFill>
                <a:latin typeface="Aptos"/>
              </a:rPr>
              <a:t>URGENTES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786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6048" y="2103120"/>
            <a:ext cx="196596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6048" y="2103120"/>
            <a:ext cx="73152" cy="1024128"/>
          </a:xfrm>
          <a:prstGeom prst="rect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28600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493A6"/>
                </a:solidFill>
                <a:latin typeface="Aptos"/>
              </a:rPr>
              <a:t>PAÍSES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5786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77456" y="2103120"/>
            <a:ext cx="196596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2103120"/>
            <a:ext cx="73152" cy="1024128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6056" y="2286000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493A6"/>
                </a:solidFill>
                <a:latin typeface="Aptos"/>
              </a:rPr>
              <a:t>PRÓXIMOS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5786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86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474720"/>
            <a:ext cx="4023360" cy="224028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7307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FILTROS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114800"/>
            <a:ext cx="3429000" cy="219456"/>
          </a:xfrm>
          <a:prstGeom prst="roundRect">
            <a:avLst/>
          </a:prstGeom>
          <a:solidFill>
            <a:srgbClr val="27374C"/>
          </a:solidFill>
          <a:ln>
            <a:solidFill>
              <a:srgbClr val="27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151376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EFF6"/>
                </a:solidFill>
                <a:latin typeface="Aptos"/>
              </a:rPr>
              <a:t>Buscar por nombre o disciplina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443984"/>
            <a:ext cx="3429000" cy="219456"/>
          </a:xfrm>
          <a:prstGeom prst="roundRect">
            <a:avLst/>
          </a:prstGeom>
          <a:solidFill>
            <a:srgbClr val="27374C"/>
          </a:solidFill>
          <a:ln>
            <a:solidFill>
              <a:srgbClr val="27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48056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EFF6"/>
                </a:solidFill>
                <a:latin typeface="Aptos"/>
              </a:rPr>
              <a:t>País y modalidad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" y="4773168"/>
            <a:ext cx="3429000" cy="219456"/>
          </a:xfrm>
          <a:prstGeom prst="roundRect">
            <a:avLst/>
          </a:prstGeom>
          <a:solidFill>
            <a:srgbClr val="27374C"/>
          </a:solidFill>
          <a:ln>
            <a:solidFill>
              <a:srgbClr val="27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809744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EFF6"/>
                </a:solidFill>
                <a:latin typeface="Aptos"/>
              </a:rPr>
              <a:t>Categoría / línea / sublínea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" y="5102352"/>
            <a:ext cx="3429000" cy="219456"/>
          </a:xfrm>
          <a:prstGeom prst="roundRect">
            <a:avLst/>
          </a:prstGeom>
          <a:solidFill>
            <a:srgbClr val="27374C"/>
          </a:solidFill>
          <a:ln>
            <a:solidFill>
              <a:srgbClr val="27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138928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EFF6"/>
                </a:solidFill>
                <a:latin typeface="Aptos"/>
              </a:rPr>
              <a:t>Indexación y estado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2" y="3474720"/>
            <a:ext cx="6446520" cy="2240280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7307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VISTA DE RESULTADOS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9651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World Digital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0965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93A6"/>
                </a:solidFill>
                <a:latin typeface="Aptos"/>
              </a:rPr>
              <a:t>Madrid  ·  Híbrido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09651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BE5C"/>
                </a:solidFill>
                <a:latin typeface="Aptos"/>
              </a:rPr>
              <a:t>18 días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0" y="4370832"/>
            <a:ext cx="5852160" cy="0"/>
          </a:xfrm>
          <a:prstGeom prst="line">
            <a:avLst/>
          </a:prstGeom>
          <a:ln w="8890">
            <a:solidFill>
              <a:srgbClr val="31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0" y="45720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AI &amp; Society Forum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572000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93A6"/>
                </a:solidFill>
                <a:latin typeface="Aptos"/>
              </a:rPr>
              <a:t>Toronto  ·  Presencial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5720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7068"/>
                </a:solidFill>
                <a:latin typeface="Aptos"/>
              </a:rPr>
              <a:t>6 días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03520" y="4846320"/>
            <a:ext cx="5852160" cy="0"/>
          </a:xfrm>
          <a:prstGeom prst="line">
            <a:avLst/>
          </a:prstGeom>
          <a:ln w="8890">
            <a:solidFill>
              <a:srgbClr val="31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03520" y="504748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Sustainable Cities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04748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93A6"/>
                </a:solidFill>
                <a:latin typeface="Aptos"/>
              </a:rPr>
              <a:t>Lisboa  ·  Virtual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0474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6D3BE"/>
                </a:solidFill>
                <a:latin typeface="Aptos"/>
              </a:rPr>
              <a:t>42 días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03520" y="5321808"/>
            <a:ext cx="5852160" cy="0"/>
          </a:xfrm>
          <a:prstGeom prst="line">
            <a:avLst/>
          </a:prstGeom>
          <a:ln w="8890">
            <a:solidFill>
              <a:srgbClr val="314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04  /  MÓDULO REVISTAS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Evaluar fuentes con más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El módulo permite buscar revistas y revisar señales relevantes para publicar o investigar.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03120"/>
            <a:ext cx="6583680" cy="347472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BE5C"/>
                </a:solidFill>
                <a:latin typeface="Aptos"/>
              </a:rPr>
              <a:t>FICHA DE REVISTA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Journal of Digital Society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ISSN 2049-1234   ·   Editorial académica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03320"/>
            <a:ext cx="1280160" cy="402336"/>
          </a:xfrm>
          <a:prstGeom prst="roundRect">
            <a:avLst/>
          </a:prstGeom>
          <a:solidFill>
            <a:srgbClr val="394A5C"/>
          </a:solidFill>
          <a:ln>
            <a:solidFill>
              <a:srgbClr val="39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03904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E8EFF6"/>
                </a:solidFill>
                <a:latin typeface="Aptos"/>
              </a:rPr>
              <a:t>APC opcional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703320"/>
            <a:ext cx="1554480" cy="402336"/>
          </a:xfrm>
          <a:prstGeom prst="roundRect">
            <a:avLst/>
          </a:prstGeom>
          <a:solidFill>
            <a:srgbClr val="184F4C"/>
          </a:solidFill>
          <a:ln>
            <a:solidFill>
              <a:srgbClr val="184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3803904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6D3BE"/>
                </a:solidFill>
                <a:latin typeface="Aptos"/>
              </a:rPr>
              <a:t>Vigente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Clasificación por disciplina y taxonomía institucional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03120"/>
            <a:ext cx="3822191" cy="3474720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4231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CONTROLES DE CONSULTA</a:t>
            </a:r>
          </a:p>
        </p:txBody>
      </p:sp>
      <p:sp>
        <p:nvSpPr>
          <p:cNvPr id="18" name="Oval 17"/>
          <p:cNvSpPr/>
          <p:nvPr/>
        </p:nvSpPr>
        <p:spPr>
          <a:xfrm>
            <a:off x="7955279" y="3044952"/>
            <a:ext cx="91440" cy="91440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9718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Nombre, ISSN o editorial</a:t>
            </a:r>
          </a:p>
        </p:txBody>
      </p:sp>
      <p:sp>
        <p:nvSpPr>
          <p:cNvPr id="20" name="Oval 19"/>
          <p:cNvSpPr/>
          <p:nvPr/>
        </p:nvSpPr>
        <p:spPr>
          <a:xfrm>
            <a:off x="7955279" y="3575304"/>
            <a:ext cx="91440" cy="91440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50215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Tipo de revista y APC</a:t>
            </a:r>
          </a:p>
        </p:txBody>
      </p:sp>
      <p:sp>
        <p:nvSpPr>
          <p:cNvPr id="22" name="Oval 21"/>
          <p:cNvSpPr/>
          <p:nvPr/>
        </p:nvSpPr>
        <p:spPr>
          <a:xfrm>
            <a:off x="7955279" y="4105656"/>
            <a:ext cx="91440" cy="91440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4032504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Disciplina y categorías</a:t>
            </a:r>
          </a:p>
        </p:txBody>
      </p:sp>
      <p:sp>
        <p:nvSpPr>
          <p:cNvPr id="24" name="Oval 23"/>
          <p:cNvSpPr/>
          <p:nvPr/>
        </p:nvSpPr>
        <p:spPr>
          <a:xfrm>
            <a:off x="7955279" y="4636008"/>
            <a:ext cx="91440" cy="91440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562856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Revisión de malas prácticas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05  /  CÓMO SE 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Del objetivo a una decisión en cuatro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El flujo está pensado para reducir tiempo de búsqueda y hacer visibles las prioridades.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87168"/>
            <a:ext cx="640080" cy="640080"/>
          </a:xfrm>
          <a:prstGeom prst="ellipse">
            <a:avLst/>
          </a:prstGeom>
          <a:solidFill>
            <a:srgbClr val="5293FF"/>
          </a:solidFill>
          <a:ln>
            <a:solidFill>
              <a:srgbClr val="52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609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423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72768" y="2807208"/>
            <a:ext cx="1719072" cy="0"/>
          </a:xfrm>
          <a:prstGeom prst="line">
            <a:avLst/>
          </a:prstGeom>
          <a:ln w="19050">
            <a:solidFill>
              <a:srgbClr val="3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4290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Elegir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67912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Congresos o revistas</a:t>
            </a:r>
          </a:p>
        </p:txBody>
      </p:sp>
      <p:sp>
        <p:nvSpPr>
          <p:cNvPr id="12" name="Oval 11"/>
          <p:cNvSpPr/>
          <p:nvPr/>
        </p:nvSpPr>
        <p:spPr>
          <a:xfrm>
            <a:off x="3611879" y="2487168"/>
            <a:ext cx="640080" cy="640080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6609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423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61688" y="2807208"/>
            <a:ext cx="1719072" cy="0"/>
          </a:xfrm>
          <a:prstGeom prst="line">
            <a:avLst/>
          </a:prstGeom>
          <a:ln w="19050">
            <a:solidFill>
              <a:srgbClr val="3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11879" y="34290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Aplicar 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867912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Taxonomía, país, fecha o disciplina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487168"/>
            <a:ext cx="640080" cy="640080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609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423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50608" y="2807208"/>
            <a:ext cx="1719072" cy="0"/>
          </a:xfrm>
          <a:prstGeom prst="line">
            <a:avLst/>
          </a:prstGeom>
          <a:ln w="19050">
            <a:solidFill>
              <a:srgbClr val="3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34290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Comparar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2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Tarjetas, lista y estados</a:t>
            </a:r>
          </a:p>
        </p:txBody>
      </p:sp>
      <p:sp>
        <p:nvSpPr>
          <p:cNvPr id="22" name="Oval 21"/>
          <p:cNvSpPr/>
          <p:nvPr/>
        </p:nvSpPr>
        <p:spPr>
          <a:xfrm>
            <a:off x="9189719" y="2487168"/>
            <a:ext cx="640080" cy="640080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6609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B1423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4290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Abrir detalle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867912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Consultar enlace y tomar acción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469880" cy="5669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7608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8EFF6"/>
                </a:solidFill>
                <a:latin typeface="Aptos"/>
              </a:rPr>
              <a:t>Resultado: una consulta que puede convertirse en seguimiento, postulación o decisión editorial.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06  / 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Una aplicación ligera y fácil de desplegar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Separar frontend, procesamiento y datos permite actualizar cada parte sin romper la experiencia.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926080" cy="2423160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871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6D3BE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529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Componentes, filtros, módulos y visualización.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148840"/>
            <a:ext cx="2926080" cy="242316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24871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BE5C"/>
                </a:solidFill>
                <a:latin typeface="Aptos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8529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JSON procesado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40156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Congresos, revistas y taxonomías listas para consumo.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2148840"/>
            <a:ext cx="2926080" cy="2423160"/>
          </a:xfrm>
          <a:prstGeom prst="roundRect">
            <a:avLst/>
          </a:prstGeom>
          <a:solidFill>
            <a:srgbClr val="233043"/>
          </a:solidFill>
          <a:ln>
            <a:solidFill>
              <a:srgbClr val="233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24871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068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8529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40156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Procesamiento de fuentes y automatizaciones.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3364992"/>
            <a:ext cx="758952" cy="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07808" y="3364992"/>
            <a:ext cx="758952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8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6D3BE"/>
                </a:solidFill>
                <a:latin typeface="Aptos"/>
              </a:rPr>
              <a:t>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55595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493A6"/>
                </a:solidFill>
                <a:latin typeface="Aptos"/>
              </a:rPr>
              <a:t>Despliegue del frontend desde /frontend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07  / 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Tecnologías elegidas para mantener velocidad y claridad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Cada herramienta cubre una responsabilidad concreta del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514600"/>
            <a:ext cx="420624" cy="420624"/>
          </a:xfrm>
          <a:prstGeom prst="ellipse">
            <a:avLst/>
          </a:prstGeom>
          <a:solidFill>
            <a:srgbClr val="5293FF"/>
          </a:solidFill>
          <a:ln>
            <a:solidFill>
              <a:srgbClr val="52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24414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80720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Interfaz por componentes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4028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28032" y="2514600"/>
            <a:ext cx="420624" cy="420624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4414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80720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Desarrollo y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24028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22792" y="2514600"/>
            <a:ext cx="420624" cy="420624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4414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0720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Procesamiento de 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3271" y="3931920"/>
            <a:ext cx="420624" cy="420624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19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42245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Formato de intercambio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5760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28032" y="3931920"/>
            <a:ext cx="420624" cy="420624"/>
          </a:xfrm>
          <a:prstGeom prst="ellipse">
            <a:avLst/>
          </a:prstGeom>
          <a:solidFill>
            <a:srgbClr val="A489FF"/>
          </a:solidFill>
          <a:ln>
            <a:solidFill>
              <a:srgbClr val="A4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2245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Versionado del proyecto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57600"/>
            <a:ext cx="3246120" cy="102412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22792" y="3931920"/>
            <a:ext cx="420624" cy="420624"/>
          </a:xfrm>
          <a:prstGeom prst="ellipse">
            <a:avLst/>
          </a:prstGeom>
          <a:solidFill>
            <a:srgbClr val="7ACDE2"/>
          </a:solidFill>
          <a:ln>
            <a:solidFill>
              <a:srgbClr val="7A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2245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93A6"/>
                </a:solidFill>
                <a:latin typeface="Aptos"/>
              </a:rPr>
              <a:t>Despliegue 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08  / 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Actualizar datos sin rehacer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El contenido se procesa, se publica como JSON y el frontend lo consume al cargar.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267712" cy="157276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697480"/>
            <a:ext cx="384048" cy="384048"/>
          </a:xfrm>
          <a:prstGeom prst="ellipse">
            <a:avLst/>
          </a:prstGeom>
          <a:solidFill>
            <a:srgbClr val="5293FF"/>
          </a:solidFill>
          <a:ln>
            <a:solidFill>
              <a:srgbClr val="52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6974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293FF"/>
                </a:solidFill>
                <a:latin typeface="Aptos"/>
              </a:rPr>
              <a:t>FUENTE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Hoja de cálculo
o fuente externa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200400"/>
            <a:ext cx="411480" cy="0"/>
          </a:xfrm>
          <a:prstGeom prst="line">
            <a:avLst/>
          </a:prstGeom>
          <a:ln w="25400">
            <a:solidFill>
              <a:srgbClr val="529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3008" y="2423160"/>
            <a:ext cx="2267712" cy="157276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697480"/>
            <a:ext cx="384048" cy="384048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26974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BE5C"/>
                </a:solidFill>
                <a:latin typeface="Aptos"/>
              </a:rPr>
              <a:t>PROCESAMIENTO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2461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Scripts Python
validan y clasifican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24728" y="3200400"/>
            <a:ext cx="411480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45936" y="2423160"/>
            <a:ext cx="2267712" cy="157276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697480"/>
            <a:ext cx="384048" cy="384048"/>
          </a:xfrm>
          <a:prstGeom prst="ellipse">
            <a:avLst/>
          </a:prstGeom>
          <a:solidFill>
            <a:srgbClr val="36D3BE"/>
          </a:solidFill>
          <a:ln>
            <a:solidFill>
              <a:srgbClr val="36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26974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PUBLICACIÓN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2461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frontend/public
archivos JSON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77656" y="3200400"/>
            <a:ext cx="411480" cy="0"/>
          </a:xfrm>
          <a:prstGeom prst="line">
            <a:avLst/>
          </a:prstGeom>
          <a:ln w="25400">
            <a:solidFill>
              <a:srgbClr val="36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98863" y="2423160"/>
            <a:ext cx="2267712" cy="1572768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09176" y="2697480"/>
            <a:ext cx="384048" cy="384048"/>
          </a:xfrm>
          <a:prstGeom prst="ellipse">
            <a:avLst/>
          </a:prstGeom>
          <a:solidFill>
            <a:srgbClr val="FF7068"/>
          </a:solidFill>
          <a:ln>
            <a:solidFill>
              <a:srgbClr val="FF7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6974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068"/>
                </a:solidFill>
                <a:latin typeface="Aptos"/>
              </a:rPr>
              <a:t>CONSUMO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32461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React + Render
experiencia web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800600"/>
            <a:ext cx="10012680" cy="658368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047488"/>
            <a:ext cx="9464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8EFF6"/>
                </a:solidFill>
                <a:latin typeface="Aptos"/>
              </a:rPr>
              <a:t>Configuración de Render: Root Directory = frontend  ·  Build = npm install &amp;&amp; npm run build  ·  Publish = dist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6D3BE"/>
                </a:solidFill>
                <a:latin typeface="Aptos"/>
              </a:rPr>
              <a:t>09  / 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Un sistema preparado para crecer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93A6"/>
                </a:solidFill>
                <a:latin typeface="Aptos"/>
              </a:rPr>
              <a:t>Las mejoras futuras priorizan anticipación, colaboración y calidad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8493A6"/>
                </a:solidFill>
                <a:latin typeface="Aptos"/>
              </a:rPr>
              <a:t>DASHBOARD DE CONGRESOS  /  SISTEMA DE INFORMACIÓN ACADÉMICA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6D3BE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4983480" cy="118872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8658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06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5000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Alertas y recordatorios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06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Notificaciones antes de cada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148840"/>
            <a:ext cx="4983480" cy="118872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399" y="238658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6D3B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35000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Calendario personal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7706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Exportar eventos a Google Calendar o iCal.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76472"/>
            <a:ext cx="4983480" cy="118872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14215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E5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77639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Analítica avanzada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982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Embudo de uso, búsquedas y decisiones.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776472"/>
            <a:ext cx="4983480" cy="1188720"/>
          </a:xfrm>
          <a:prstGeom prst="roundRect">
            <a:avLst/>
          </a:prstGeom>
          <a:solidFill>
            <a:srgbClr val="1A273B"/>
          </a:solidFill>
          <a:ln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399" y="4014215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293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977639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Roles y colaboración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43982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493A6"/>
                </a:solidFill>
                <a:latin typeface="Aptos"/>
              </a:rPr>
              <a:t>Favoritos, notas y seguimiento por usuario.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23560"/>
            <a:ext cx="10469880" cy="384048"/>
          </a:xfrm>
          <a:prstGeom prst="roundRect">
            <a:avLst/>
          </a:prstGeom>
          <a:solidFill>
            <a:srgbClr val="163F4D"/>
          </a:solidFill>
          <a:ln>
            <a:solidFill>
              <a:srgbClr val="163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742432"/>
            <a:ext cx="10012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E8EFF6"/>
                </a:solidFill>
                <a:latin typeface="Aptos"/>
              </a:rPr>
              <a:t>La base actual ya permite incorporar nuevas fuentes y módulos con bajo impacto.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